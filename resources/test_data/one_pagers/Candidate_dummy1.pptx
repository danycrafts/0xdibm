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1" r:id="rId4"/>
  </p:sldMasterIdLst>
  <p:notesMasterIdLst>
    <p:notesMasterId r:id="rId6"/>
  </p:notesMasterIdLst>
  <p:handoutMasterIdLst>
    <p:handoutMasterId r:id="rId7"/>
  </p:handoutMasterIdLst>
  <p:sldIdLst>
    <p:sldId id="461" r:id="rId5"/>
  </p:sldIdLst>
  <p:sldSz cx="9144000" cy="5143500" type="screen16x9"/>
  <p:notesSz cx="6858000" cy="9144000"/>
  <p:custDataLst>
    <p:tags r:id="rId8"/>
  </p:custDataLst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A7DEB8B-EC4F-4E23-87E1-396AC9D9884D}">
          <p14:sldIdLst/>
        </p14:section>
        <p14:section name="Example" id="{AF6BAE1C-90E8-45A9-86B2-32850850F6BD}">
          <p14:sldIdLst>
            <p14:sldId id="461"/>
          </p14:sldIdLst>
        </p14:section>
      </p14:sectionLst>
    </p:ext>
    <p:ext uri="{EFAFB233-063F-42B5-8137-9DF3F51BA10A}">
      <p15:sldGuideLst xmlns:p15="http://schemas.microsoft.com/office/powerpoint/2012/main">
        <p15:guide id="3" pos="2880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38B7"/>
    <a:srgbClr val="34006F"/>
    <a:srgbClr val="000000"/>
    <a:srgbClr val="DBDCDB"/>
    <a:srgbClr val="006EFA"/>
    <a:srgbClr val="0F0F64"/>
    <a:srgbClr val="0F0F46"/>
    <a:srgbClr val="787878"/>
    <a:srgbClr val="C8C8C8"/>
    <a:srgbClr val="E6E6E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FFE2EA-0DEB-464D-BE0E-B000EA85F688}" v="1" dt="2025-03-03T16:04:46.175"/>
  </p1510:revLst>
</p1510:revInfo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1" d="100"/>
          <a:sy n="191" d="100"/>
        </p:scale>
        <p:origin x="224" y="328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, Yinan" userId="421d868a-c032-4d91-af00-3f1baac01a62" providerId="ADAL" clId="{EDFFE2EA-0DEB-464D-BE0E-B000EA85F688}"/>
    <pc:docChg chg="modSld">
      <pc:chgData name="Li, Yinan" userId="421d868a-c032-4d91-af00-3f1baac01a62" providerId="ADAL" clId="{EDFFE2EA-0DEB-464D-BE0E-B000EA85F688}" dt="2025-03-03T16:04:49.376" v="1" actId="20577"/>
      <pc:docMkLst>
        <pc:docMk/>
      </pc:docMkLst>
      <pc:sldChg chg="modSp mod">
        <pc:chgData name="Li, Yinan" userId="421d868a-c032-4d91-af00-3f1baac01a62" providerId="ADAL" clId="{EDFFE2EA-0DEB-464D-BE0E-B000EA85F688}" dt="2025-03-03T16:04:49.376" v="1" actId="20577"/>
        <pc:sldMkLst>
          <pc:docMk/>
          <pc:sldMk cId="165634123" sldId="461"/>
        </pc:sldMkLst>
        <pc:spChg chg="mod">
          <ac:chgData name="Li, Yinan" userId="421d868a-c032-4d91-af00-3f1baac01a62" providerId="ADAL" clId="{EDFFE2EA-0DEB-464D-BE0E-B000EA85F688}" dt="2025-03-03T16:04:49.376" v="1" actId="20577"/>
          <ac:spMkLst>
            <pc:docMk/>
            <pc:sldMk cId="165634123" sldId="461"/>
            <ac:spMk id="3" creationId="{BF2BF599-91F8-48C7-8BDE-B4FFA12D66AE}"/>
          </ac:spMkLst>
        </pc:spChg>
        <pc:spChg chg="mod">
          <ac:chgData name="Li, Yinan" userId="421d868a-c032-4d91-af00-3f1baac01a62" providerId="ADAL" clId="{EDFFE2EA-0DEB-464D-BE0E-B000EA85F688}" dt="2025-03-03T16:04:46.175" v="0"/>
          <ac:spMkLst>
            <pc:docMk/>
            <pc:sldMk cId="165634123" sldId="461"/>
            <ac:spMk id="6" creationId="{7AE520FF-B46A-1030-AB52-953A583C3DBD}"/>
          </ac:spMkLst>
        </pc:spChg>
        <pc:spChg chg="mod">
          <ac:chgData name="Li, Yinan" userId="421d868a-c032-4d91-af00-3f1baac01a62" providerId="ADAL" clId="{EDFFE2EA-0DEB-464D-BE0E-B000EA85F688}" dt="2025-03-03T16:04:46.175" v="0"/>
          <ac:spMkLst>
            <pc:docMk/>
            <pc:sldMk cId="165634123" sldId="461"/>
            <ac:spMk id="19" creationId="{32355C8D-B482-4230-9347-2A41B76B1B0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D7333-DD87-4773-BED3-E2892A4094EE}" type="datetimeFigureOut">
              <a:rPr lang="en-US" smtClean="0">
                <a:latin typeface="Graphik" panose="020B0503030202060203" pitchFamily="34" charset="77"/>
              </a:rPr>
              <a:t>3/3/2025</a:t>
            </a:fld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Graphik" panose="020B0503030202060203" pitchFamily="34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A0E21C-7E3E-40C1-A5B4-152F0F11E190}" type="slidenum">
              <a:rPr lang="en-US" smtClean="0">
                <a:latin typeface="Graphik" panose="020B0503030202060203" pitchFamily="34" charset="77"/>
              </a:rPr>
              <a:t>‹#›</a:t>
            </a:fld>
            <a:endParaRPr lang="en-US">
              <a:latin typeface="Graphik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350446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D39D084F-DC83-4EB0-8CED-52E9AA3ECA1C}" type="datetimeFigureOut">
              <a:rPr lang="en-US" smtClean="0"/>
              <a:pPr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Graphik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Graphik" panose="020B0503030202060203" pitchFamily="34" charset="77"/>
              </a:defRPr>
            </a:lvl1pPr>
          </a:lstStyle>
          <a:p>
            <a:fld id="{AC157E0A-F321-48DC-AF94-681D4DCF34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04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1pPr>
    <a:lvl2pPr marL="3429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2pPr>
    <a:lvl3pPr marL="6858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3pPr>
    <a:lvl4pPr marL="10287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4pPr>
    <a:lvl5pPr marL="1371600" algn="l" defTabSz="685800" rtl="0" eaLnBrk="1" latinLnBrk="0" hangingPunct="1">
      <a:defRPr sz="900" b="0" i="0" kern="1200">
        <a:solidFill>
          <a:schemeClr val="tx1"/>
        </a:solidFill>
        <a:latin typeface="Graphik" panose="020B0503030202060203" pitchFamily="34" charset="77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9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tags" Target="../tags/tag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4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feld 6">
            <a:extLst>
              <a:ext uri="{FF2B5EF4-FFF2-40B4-BE49-F238E27FC236}">
                <a16:creationId xmlns:a16="http://schemas.microsoft.com/office/drawing/2014/main" id="{45825148-DE3C-46D4-B4AE-FF54FE310F76}"/>
              </a:ext>
            </a:extLst>
          </p:cNvPr>
          <p:cNvSpPr txBox="1"/>
          <p:nvPr userDrawn="1"/>
        </p:nvSpPr>
        <p:spPr>
          <a:xfrm>
            <a:off x="6953452" y="4990454"/>
            <a:ext cx="1816546" cy="153888"/>
          </a:xfrm>
          <a:prstGeom prst="rect">
            <a:avLst/>
          </a:prstGeom>
          <a:noFill/>
        </p:spPr>
        <p:txBody>
          <a:bodyPr wrap="square" lIns="0" tIns="0" rIns="0" bIns="45720" rtlCol="0" anchor="t">
            <a:spAutoFit/>
          </a:bodyPr>
          <a:lstStyle/>
          <a:p>
            <a:pPr algn="l"/>
            <a:r>
              <a:rPr lang="en-US" sz="6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Copyright © 2022 Accenture. All rights reserved</a:t>
            </a:r>
            <a:r>
              <a:rPr lang="en-US" sz="700" b="0" i="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rPr>
              <a:t>. </a:t>
            </a:r>
            <a:endParaRPr lang="de-DE" sz="700" b="0" i="0" u="none" kern="1200">
              <a:solidFill>
                <a:schemeClr val="tx1"/>
              </a:solidFill>
              <a:latin typeface="Graphik" panose="020B0503030202060203" pitchFamily="34" charset="77"/>
              <a:ea typeface="+mn-ea"/>
              <a:cs typeface="+mn-cs"/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8E6377A-DBA7-41C4-A660-7F682D446628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gray">
          <a:xfrm>
            <a:off x="380355" y="906169"/>
            <a:ext cx="8389643" cy="4067632"/>
          </a:xfrm>
          <a:prstGeom prst="rect">
            <a:avLst/>
          </a:prstGeom>
          <a:pattFill prst="ltUpDiag">
            <a:fgClr>
              <a:schemeClr val="bg1"/>
            </a:fgClr>
            <a:bgClr>
              <a:srgbClr val="E8ECEC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956ED258-F973-4F76-8BE7-8A768F36343D}"/>
              </a:ext>
            </a:extLst>
          </p:cNvPr>
          <p:cNvSpPr/>
          <p:nvPr userDrawn="1"/>
        </p:nvSpPr>
        <p:spPr bwMode="gray">
          <a:xfrm>
            <a:off x="1336213" y="958645"/>
            <a:ext cx="1754587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altLang="de-DE" sz="1050" b="1">
                <a:solidFill>
                  <a:schemeClr val="accent3"/>
                </a:solidFill>
                <a:latin typeface="+mj-lt"/>
              </a:rPr>
              <a:t>Professional Experience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C2DE979D-6E80-4427-822C-463B155BFEDE}"/>
              </a:ext>
            </a:extLst>
          </p:cNvPr>
          <p:cNvSpPr>
            <a:spLocks/>
          </p:cNvSpPr>
          <p:nvPr userDrawn="1"/>
        </p:nvSpPr>
        <p:spPr bwMode="gray">
          <a:xfrm>
            <a:off x="3302433" y="958645"/>
            <a:ext cx="5319692" cy="29700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50" b="1">
                <a:solidFill>
                  <a:schemeClr val="accent3"/>
                </a:solidFill>
                <a:latin typeface="+mj-lt"/>
              </a:rPr>
              <a:t>Project Experience (Extract)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7620C-6E6E-4F83-8FB3-922F3E48208E}"/>
              </a:ext>
            </a:extLst>
          </p:cNvPr>
          <p:cNvSpPr>
            <a:spLocks/>
          </p:cNvSpPr>
          <p:nvPr userDrawn="1"/>
        </p:nvSpPr>
        <p:spPr bwMode="gray">
          <a:xfrm>
            <a:off x="5345254" y="3889173"/>
            <a:ext cx="2151616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Industry/Function Expertise</a:t>
            </a: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865548A1-1E96-4DCC-8C1A-064A376C9D3D}"/>
              </a:ext>
            </a:extLst>
          </p:cNvPr>
          <p:cNvSpPr/>
          <p:nvPr userDrawn="1"/>
        </p:nvSpPr>
        <p:spPr bwMode="gray">
          <a:xfrm>
            <a:off x="3302433" y="3901096"/>
            <a:ext cx="233737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Capability Skills</a:t>
            </a:r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C8DCC401-532C-428A-9984-CA88A59EFECC}"/>
              </a:ext>
            </a:extLst>
          </p:cNvPr>
          <p:cNvSpPr/>
          <p:nvPr userDrawn="1"/>
        </p:nvSpPr>
        <p:spPr bwMode="gray">
          <a:xfrm>
            <a:off x="7439790" y="3889174"/>
            <a:ext cx="1233343" cy="2215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  <a:effectLst/>
        </p:spPr>
        <p:txBody>
          <a:bodyPr vert="horz" wrap="square" lIns="54000" tIns="0" rIns="0" bIns="27000" numCol="1" rtlCol="0" anchor="b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1000" b="1">
                <a:solidFill>
                  <a:schemeClr val="accent3"/>
                </a:solidFill>
                <a:latin typeface="+mj-lt"/>
              </a:rPr>
              <a:t>Language Skills</a:t>
            </a:r>
          </a:p>
        </p:txBody>
      </p:sp>
      <p:sp>
        <p:nvSpPr>
          <p:cNvPr id="12" name="Rechteck 6">
            <a:extLst>
              <a:ext uri="{FF2B5EF4-FFF2-40B4-BE49-F238E27FC236}">
                <a16:creationId xmlns:a16="http://schemas.microsoft.com/office/drawing/2014/main" id="{500C41D6-3751-4BF2-A2D4-C4D050EFDC5D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 bwMode="gray">
          <a:xfrm>
            <a:off x="451339" y="1255645"/>
            <a:ext cx="2720911" cy="3616773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99000" rtlCol="0" anchor="t"/>
          <a:lstStyle/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1100">
              <a:solidFill>
                <a:srgbClr val="000000"/>
              </a:solidFill>
            </a:endParaRPr>
          </a:p>
        </p:txBody>
      </p:sp>
      <p:sp>
        <p:nvSpPr>
          <p:cNvPr id="13" name="Rechteck 9">
            <a:extLst>
              <a:ext uri="{FF2B5EF4-FFF2-40B4-BE49-F238E27FC236}">
                <a16:creationId xmlns:a16="http://schemas.microsoft.com/office/drawing/2014/main" id="{83BC4CDE-D518-4982-88F0-1383D055892F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gray">
          <a:xfrm>
            <a:off x="3243234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600"/>
              </a:spcAft>
              <a:buClr>
                <a:srgbClr val="000000"/>
              </a:buClr>
              <a:buSzPct val="100000"/>
              <a:defRPr/>
            </a:pPr>
            <a:endParaRPr lang="en-US" sz="900">
              <a:solidFill>
                <a:srgbClr val="000000"/>
              </a:solidFill>
              <a:cs typeface="Arial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E198372A-3543-470D-972D-DE2081A6E13E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5" name="Rechteck 12">
            <a:extLst>
              <a:ext uri="{FF2B5EF4-FFF2-40B4-BE49-F238E27FC236}">
                <a16:creationId xmlns:a16="http://schemas.microsoft.com/office/drawing/2014/main" id="{D8CF73CF-6270-47B9-889A-F8CCDABAA52C}"/>
              </a:ext>
            </a:extLst>
          </p:cNvPr>
          <p:cNvSpPr/>
          <p:nvPr userDrawn="1">
            <p:custDataLst>
              <p:tags r:id="rId5"/>
            </p:custDataLst>
          </p:nvPr>
        </p:nvSpPr>
        <p:spPr bwMode="gray">
          <a:xfrm>
            <a:off x="3243233" y="4139288"/>
            <a:ext cx="2031036" cy="729755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16" name="Rechteck 13">
            <a:extLst>
              <a:ext uri="{FF2B5EF4-FFF2-40B4-BE49-F238E27FC236}">
                <a16:creationId xmlns:a16="http://schemas.microsoft.com/office/drawing/2014/main" id="{0B97C3DC-4554-43C8-B557-AAB90B40760C}"/>
              </a:ext>
            </a:extLst>
          </p:cNvPr>
          <p:cNvSpPr/>
          <p:nvPr userDrawn="1">
            <p:custDataLst>
              <p:tags r:id="rId6"/>
            </p:custDataLst>
          </p:nvPr>
        </p:nvSpPr>
        <p:spPr bwMode="gray">
          <a:xfrm>
            <a:off x="7439790" y="4139287"/>
            <a:ext cx="1245896" cy="729756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0" lvl="1" indent="0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None/>
              <a:defRPr/>
            </a:pPr>
            <a:endParaRPr lang="en-US" sz="90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28" name="Picture 27" descr="A picture containing text, clock&#10;&#10;Description automatically generated">
            <a:extLst>
              <a:ext uri="{FF2B5EF4-FFF2-40B4-BE49-F238E27FC236}">
                <a16:creationId xmlns:a16="http://schemas.microsoft.com/office/drawing/2014/main" id="{B9DC391F-FC19-9845-BC67-FB15217DAB61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079600" y="261246"/>
            <a:ext cx="690398" cy="47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404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6F4C2C0-9C44-433C-BA89-DCAC6469C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222674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5" progId="TCLayout.ActiveDocument.1">
                  <p:embed/>
                </p:oleObj>
              </mc:Choice>
              <mc:Fallback>
                <p:oleObj name="think-cell Slide" r:id="rId4" imgW="592" imgH="595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6F4C2C0-9C44-433C-BA89-DCAC6469C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56368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5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orient="horz" pos="2890" userDrawn="1">
          <p15:clr>
            <a:srgbClr val="F26B43"/>
          </p15:clr>
        </p15:guide>
        <p15:guide id="4" orient="horz" pos="3117" userDrawn="1">
          <p15:clr>
            <a:srgbClr val="F26B43"/>
          </p15:clr>
        </p15:guide>
        <p15:guide id="5" orient="horz" pos="191" userDrawn="1">
          <p15:clr>
            <a:srgbClr val="F26B43"/>
          </p15:clr>
        </p15:guide>
        <p15:guide id="6" pos="181" userDrawn="1">
          <p15:clr>
            <a:srgbClr val="F26B43"/>
          </p15:clr>
        </p15:guide>
        <p15:guide id="7" pos="5579" userDrawn="1">
          <p15:clr>
            <a:srgbClr val="F26B43"/>
          </p15:clr>
        </p15:guide>
        <p15:guide id="8" pos="3039" userDrawn="1">
          <p15:clr>
            <a:srgbClr val="F26B43"/>
          </p15:clr>
        </p15:guide>
        <p15:guide id="9" pos="272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10" Type="http://schemas.openxmlformats.org/officeDocument/2006/relationships/image" Target="../media/image4.jpeg"/><Relationship Id="rId4" Type="http://schemas.openxmlformats.org/officeDocument/2006/relationships/tags" Target="../tags/tag12.xm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7">
            <a:extLst>
              <a:ext uri="{FF2B5EF4-FFF2-40B4-BE49-F238E27FC236}">
                <a16:creationId xmlns:a16="http://schemas.microsoft.com/office/drawing/2014/main" id="{BB0AA60A-D303-48DE-8B73-CC26880FFD31}"/>
              </a:ext>
            </a:extLst>
          </p:cNvPr>
          <p:cNvSpPr txBox="1"/>
          <p:nvPr/>
        </p:nvSpPr>
        <p:spPr>
          <a:xfrm>
            <a:off x="380356" y="548938"/>
            <a:ext cx="7059435" cy="66684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b="1" dirty="0">
                <a:latin typeface="Graphik Semibold"/>
              </a:rPr>
              <a:t>ML Engineering Specialist</a:t>
            </a:r>
            <a:endParaRPr lang="de-DE" sz="2400" b="1" dirty="0">
              <a:latin typeface="Graphik Semibold"/>
            </a:endParaRPr>
          </a:p>
          <a:p>
            <a:pPr>
              <a:lnSpc>
                <a:spcPts val="2600"/>
              </a:lnSpc>
            </a:pPr>
            <a:endParaRPr lang="en-US" sz="2400" b="1" dirty="0">
              <a:latin typeface="Graphik Semibold"/>
            </a:endParaRPr>
          </a:p>
        </p:txBody>
      </p:sp>
      <p:sp>
        <p:nvSpPr>
          <p:cNvPr id="19" name="TextBox 6">
            <a:extLst>
              <a:ext uri="{FF2B5EF4-FFF2-40B4-BE49-F238E27FC236}">
                <a16:creationId xmlns:a16="http://schemas.microsoft.com/office/drawing/2014/main" id="{32355C8D-B482-4230-9347-2A41B76B1B0D}"/>
              </a:ext>
            </a:extLst>
          </p:cNvPr>
          <p:cNvSpPr txBox="1"/>
          <p:nvPr/>
        </p:nvSpPr>
        <p:spPr>
          <a:xfrm>
            <a:off x="380356" y="193228"/>
            <a:ext cx="7059435" cy="35522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3600" b="1" dirty="0" err="1">
                <a:solidFill>
                  <a:schemeClr val="accent3"/>
                </a:solidFill>
                <a:latin typeface="Graphik Semibold"/>
              </a:rPr>
              <a:t>Kandidat</a:t>
            </a:r>
            <a:r>
              <a:rPr lang="en-US" sz="3600" b="1" dirty="0">
                <a:solidFill>
                  <a:schemeClr val="accent3"/>
                </a:solidFill>
                <a:latin typeface="Graphik Semibold"/>
              </a:rPr>
              <a:t> dummy1</a:t>
            </a:r>
          </a:p>
        </p:txBody>
      </p:sp>
      <p:sp>
        <p:nvSpPr>
          <p:cNvPr id="22" name="Rechteck 6">
            <a:extLst>
              <a:ext uri="{FF2B5EF4-FFF2-40B4-BE49-F238E27FC236}">
                <a16:creationId xmlns:a16="http://schemas.microsoft.com/office/drawing/2014/main" id="{B57B3A26-AB1B-4820-B23A-F5DA79D27B07}"/>
              </a:ext>
            </a:extLst>
          </p:cNvPr>
          <p:cNvSpPr>
            <a:spLocks/>
          </p:cNvSpPr>
          <p:nvPr>
            <p:custDataLst>
              <p:tags r:id="rId1"/>
            </p:custDataLst>
          </p:nvPr>
        </p:nvSpPr>
        <p:spPr bwMode="gray">
          <a:xfrm>
            <a:off x="451340" y="1255646"/>
            <a:ext cx="2720911" cy="3616773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999000" rIns="91440" bIns="45720" rtlCol="0" anchor="t"/>
          <a:lstStyle/>
          <a:p>
            <a:pPr>
              <a:spcAft>
                <a:spcPts val="600"/>
              </a:spcAft>
              <a:buClr>
                <a:srgbClr val="006699"/>
              </a:buClr>
              <a:defRPr/>
            </a:pPr>
            <a:br>
              <a:rPr lang="en-US" sz="1100"/>
            </a:br>
            <a:endParaRPr lang="en-US" sz="900">
              <a:solidFill>
                <a:srgbClr val="000000"/>
              </a:solidFill>
              <a:cs typeface="Arial"/>
            </a:endParaRPr>
          </a:p>
        </p:txBody>
      </p:sp>
      <p:sp>
        <p:nvSpPr>
          <p:cNvPr id="23" name="Rechteck 9">
            <a:extLst>
              <a:ext uri="{FF2B5EF4-FFF2-40B4-BE49-F238E27FC236}">
                <a16:creationId xmlns:a16="http://schemas.microsoft.com/office/drawing/2014/main" id="{1F20D39F-31C7-467B-A678-9C02A88B6A81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3243235" y="1255645"/>
            <a:ext cx="5442452" cy="263334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/ ML Project (Jun 2022 – now) – Frontend Lead</a:t>
            </a: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u="sng" dirty="0">
                <a:solidFill>
                  <a:srgbClr val="000000"/>
                </a:solidFill>
                <a:cs typeface="Arial" pitchFamily="34" charset="0"/>
              </a:rPr>
              <a:t>DWH: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Coordination and performing frontend activities over multiple Tableau topics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Project estimations, time &amp; cost planning</a:t>
            </a: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u="sng" dirty="0">
                <a:solidFill>
                  <a:srgbClr val="000000"/>
                </a:solidFill>
                <a:cs typeface="Arial" pitchFamily="34" charset="0"/>
              </a:rPr>
              <a:t>ML: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Building Tableau &amp; Kibana dashboards: live monitoring input events / log monitoring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Analyzing python code / testing ML use cases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Project documentation: test cases, client requirements, system design etc.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b="1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(Jan 2020 – Jun 2022) – Frontend Lead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Finding effective frontend solutions / concept &amp; design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Leading Tableau development teams, agile working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 eaLnBrk="0" hangingPunct="0">
              <a:spcAft>
                <a:spcPts val="450"/>
              </a:spcAft>
              <a:buClr>
                <a:srgbClr val="000000"/>
              </a:buClr>
              <a:buSzPct val="100000"/>
              <a:defRPr/>
            </a:pPr>
            <a:r>
              <a:rPr lang="en-US" sz="900" b="1" dirty="0">
                <a:solidFill>
                  <a:srgbClr val="000000"/>
                </a:solidFill>
                <a:cs typeface="Arial" pitchFamily="34" charset="0"/>
              </a:rPr>
              <a:t>H&amp;PS company, DWH Project (Jul 2018 – Jan 2020) – Frontend Developer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Developing and maintaining Tableau dashboards 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Tableau Server user management</a:t>
            </a:r>
          </a:p>
          <a:p>
            <a:pPr marL="128588" indent="-128588" eaLnBrk="0" hangingPunct="0">
              <a:buClr>
                <a:schemeClr val="tx2"/>
              </a:buClr>
              <a:buSzPct val="100000"/>
              <a:buFont typeface="Wingdings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CC563AB-2272-4F89-8C09-18EF55112C2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3368" r="13368"/>
          <a:stretch/>
        </p:blipFill>
        <p:spPr>
          <a:xfrm>
            <a:off x="451340" y="1147513"/>
            <a:ext cx="775441" cy="1058408"/>
          </a:xfrm>
          <a:prstGeom prst="rect">
            <a:avLst/>
          </a:prstGeom>
        </p:spPr>
      </p:pic>
      <p:sp>
        <p:nvSpPr>
          <p:cNvPr id="3" name="Rechteck 18">
            <a:extLst>
              <a:ext uri="{FF2B5EF4-FFF2-40B4-BE49-F238E27FC236}">
                <a16:creationId xmlns:a16="http://schemas.microsoft.com/office/drawing/2014/main" id="{BF2BF599-91F8-48C7-8BDE-B4FFA12D66AE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36213" y="1360404"/>
            <a:ext cx="1942998" cy="792197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>
              <a:spcAft>
                <a:spcPts val="300"/>
              </a:spcAft>
              <a:defRPr/>
            </a:pPr>
            <a:r>
              <a:rPr lang="en-US" sz="900" b="1" dirty="0" err="1">
                <a:solidFill>
                  <a:schemeClr val="tx1"/>
                </a:solidFill>
                <a:ea typeface="+mn-lt"/>
                <a:cs typeface="+mn-lt"/>
              </a:rPr>
              <a:t>Kandidat</a:t>
            </a:r>
            <a:r>
              <a:rPr lang="en-US" sz="900" b="1" dirty="0">
                <a:solidFill>
                  <a:schemeClr val="tx1"/>
                </a:solidFill>
                <a:ea typeface="+mn-lt"/>
                <a:cs typeface="+mn-lt"/>
              </a:rPr>
              <a:t> dummy1</a:t>
            </a:r>
          </a:p>
          <a:p>
            <a:pPr>
              <a:spcAft>
                <a:spcPts val="300"/>
              </a:spcAft>
              <a:defRPr/>
            </a:pPr>
            <a:r>
              <a:rPr lang="en-US" sz="900" dirty="0">
                <a:solidFill>
                  <a:srgbClr val="000000"/>
                </a:solidFill>
                <a:ea typeface="+mn-lt"/>
                <a:cs typeface="+mn-lt"/>
              </a:rPr>
              <a:t>Düsseldorf, Germany</a:t>
            </a:r>
            <a:endParaRPr lang="en-US" sz="900" dirty="0">
              <a:ea typeface="+mn-lt"/>
              <a:cs typeface="+mn-lt"/>
            </a:endParaRPr>
          </a:p>
          <a:p>
            <a:pPr>
              <a:spcAft>
                <a:spcPts val="300"/>
              </a:spcAft>
            </a:pPr>
            <a:r>
              <a:rPr lang="en-US" sz="900" dirty="0">
                <a:solidFill>
                  <a:schemeClr val="tx1"/>
                </a:solidFill>
                <a:ea typeface="+mn-lt"/>
                <a:cs typeface="+mn-lt"/>
              </a:rPr>
              <a:t>Kandidat_dummy1@accenture.com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spcAft>
                <a:spcPts val="300"/>
              </a:spcAft>
            </a:pPr>
            <a:endParaRPr lang="de-CH" altLang="de-DE" sz="900" kern="0" dirty="0">
              <a:solidFill>
                <a:srgbClr val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E520FF-B46A-1030-AB52-953A583C3DBD}"/>
              </a:ext>
            </a:extLst>
          </p:cNvPr>
          <p:cNvSpPr txBox="1"/>
          <p:nvPr/>
        </p:nvSpPr>
        <p:spPr>
          <a:xfrm>
            <a:off x="452843" y="2393110"/>
            <a:ext cx="2687891" cy="2397836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900" dirty="0" err="1">
                <a:solidFill>
                  <a:srgbClr val="000000"/>
                </a:solidFill>
                <a:cs typeface="Arial" pitchFamily="34" charset="0"/>
              </a:rPr>
              <a:t>Kandidat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 dummy1 is employed as a ML engineering specialist by Accenture Data &amp; AI Department.</a:t>
            </a: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endParaRPr lang="en-US" sz="900" dirty="0">
              <a:solidFill>
                <a:srgbClr val="000000"/>
              </a:solidFill>
              <a:cs typeface="Arial" pitchFamily="34" charset="0"/>
            </a:endParaRP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She joined Accenture in February 2018. After successful completion of the big data jump start training, she </a:t>
            </a:r>
            <a:r>
              <a:rPr lang="en-US" sz="900" dirty="0">
                <a:solidFill>
                  <a:srgbClr val="000000"/>
                </a:solidFill>
              </a:rPr>
              <a:t>focused primarily on visual data analytics with Tableau based on Teradata &amp; Oracle databases.</a:t>
            </a: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Prior to Accenture, She </a:t>
            </a:r>
            <a:r>
              <a:rPr lang="en-US" sz="900" dirty="0">
                <a:solidFill>
                  <a:srgbClr val="000000"/>
                </a:solidFill>
                <a:cs typeface="Arial" pitchFamily="34" charset="0"/>
              </a:rPr>
              <a:t>gained experience in mathematical programming and advanced statistics, working as a scientific assistant at the University.</a:t>
            </a:r>
            <a:endParaRPr lang="en-US" sz="900" dirty="0">
              <a:solidFill>
                <a:srgbClr val="000000"/>
              </a:solidFill>
            </a:endParaRPr>
          </a:p>
          <a:p>
            <a:pPr>
              <a:lnSpc>
                <a:spcPct val="95000"/>
              </a:lnSpc>
              <a:spcBef>
                <a:spcPts val="225"/>
              </a:spcBef>
              <a:spcAft>
                <a:spcPts val="225"/>
              </a:spcAft>
              <a:buClr>
                <a:srgbClr val="006699"/>
              </a:buClr>
              <a:defRPr/>
            </a:pPr>
            <a:r>
              <a:rPr lang="en-US" sz="900" dirty="0">
                <a:solidFill>
                  <a:srgbClr val="000000"/>
                </a:solidFill>
              </a:rPr>
              <a:t>She holds a Master’s degree in Mathematics </a:t>
            </a:r>
            <a:r>
              <a:rPr lang="en-US" sz="900" dirty="0">
                <a:solidFill>
                  <a:schemeClr val="accent5">
                    <a:lumMod val="10000"/>
                  </a:schemeClr>
                </a:solidFill>
              </a:rPr>
              <a:t>specialized in optimization from HHU Düsseldorf.</a:t>
            </a:r>
            <a:endParaRPr lang="en-US" sz="900" dirty="0"/>
          </a:p>
        </p:txBody>
      </p:sp>
      <p:sp>
        <p:nvSpPr>
          <p:cNvPr id="4" name="Rechteck 12">
            <a:extLst>
              <a:ext uri="{FF2B5EF4-FFF2-40B4-BE49-F238E27FC236}">
                <a16:creationId xmlns:a16="http://schemas.microsoft.com/office/drawing/2014/main" id="{CA9A4831-B23C-FE12-EC30-C72187A4BC06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243233" y="4139289"/>
            <a:ext cx="2031036" cy="729755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Certified Tableau Consultant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Teradata, Oracle, SQL, GitLab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Elastic, Kibana, Splunk, Linux, JIRA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MATLAB, R, Python</a:t>
            </a:r>
          </a:p>
          <a:p>
            <a:pPr marL="96441" lvl="1" indent="-96441">
              <a:lnSpc>
                <a:spcPct val="95000"/>
              </a:lnSpc>
              <a:spcAft>
                <a:spcPts val="113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 panose="020B0604020202020204" pitchFamily="34" charset="0"/>
              </a:rPr>
              <a:t>Scrum Master (PSMI), PRINCE2</a:t>
            </a:r>
            <a:endParaRPr lang="en-US" sz="750" dirty="0">
              <a:solidFill>
                <a:srgbClr val="000000"/>
              </a:solidFill>
              <a:cs typeface="Arial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" name="Rechteck 13">
            <a:extLst>
              <a:ext uri="{FF2B5EF4-FFF2-40B4-BE49-F238E27FC236}">
                <a16:creationId xmlns:a16="http://schemas.microsoft.com/office/drawing/2014/main" id="{45EDB8BB-15A6-FBFE-FA0F-8AA65494AD74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345253" y="4139287"/>
            <a:ext cx="2010172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750" dirty="0">
                <a:solidFill>
                  <a:srgbClr val="000000"/>
                </a:solidFill>
                <a:cs typeface="Arial" panose="020B0604020202020204" pitchFamily="34" charset="0"/>
              </a:rPr>
              <a:t>Help and Public Services</a:t>
            </a:r>
          </a:p>
          <a:p>
            <a:pPr marL="128588" lvl="1" indent="-128588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de-CH" sz="750" dirty="0">
                <a:solidFill>
                  <a:srgbClr val="000000"/>
                </a:solidFill>
                <a:cs typeface="Arial" panose="020B0604020202020204" pitchFamily="34" charset="0"/>
              </a:rPr>
              <a:t>Research &amp; Development</a:t>
            </a: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endParaRPr lang="en-US" sz="9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1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defRPr/>
            </a:pPr>
            <a:endParaRPr lang="de-DE" sz="8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9" name="Rechteck 13">
            <a:extLst>
              <a:ext uri="{FF2B5EF4-FFF2-40B4-BE49-F238E27FC236}">
                <a16:creationId xmlns:a16="http://schemas.microsoft.com/office/drawing/2014/main" id="{B84800C0-AA60-86AA-71DD-08C5741839AF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7430998" y="4137822"/>
            <a:ext cx="1245896" cy="729756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/>
          <a:lstStyle/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German </a:t>
            </a: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English</a:t>
            </a:r>
          </a:p>
          <a:p>
            <a:pPr marL="128267" lvl="1" indent="-128267">
              <a:lnSpc>
                <a:spcPct val="95000"/>
              </a:lnSpc>
              <a:spcAft>
                <a:spcPts val="150"/>
              </a:spcAft>
              <a:buClr>
                <a:schemeClr val="tx2"/>
              </a:buClr>
              <a:buSzPct val="130000"/>
              <a:buFont typeface="Wingdings" panose="05000000000000000000" pitchFamily="2" charset="2"/>
              <a:buChar char="§"/>
              <a:defRPr/>
            </a:pPr>
            <a:r>
              <a:rPr lang="en-US" sz="750" dirty="0">
                <a:solidFill>
                  <a:srgbClr val="000000"/>
                </a:solidFill>
                <a:cs typeface="Arial"/>
              </a:rPr>
              <a:t>Russian</a:t>
            </a:r>
            <a:endParaRPr lang="en-US" sz="750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pic>
        <p:nvPicPr>
          <p:cNvPr id="10" name="Picture 9" descr="A person in a suit&#10;&#10;Description automatically generated">
            <a:extLst>
              <a:ext uri="{FF2B5EF4-FFF2-40B4-BE49-F238E27FC236}">
                <a16:creationId xmlns:a16="http://schemas.microsoft.com/office/drawing/2014/main" id="{422D339F-76C8-D057-8440-5236D6E5EB4B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-54735" t="-13221" r="138042" b="78606"/>
          <a:stretch/>
        </p:blipFill>
        <p:spPr>
          <a:xfrm>
            <a:off x="464189" y="1147512"/>
            <a:ext cx="763209" cy="105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341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CTCREATESHAPEHANDLED" val="0"/>
</p:tagLst>
</file>

<file path=ppt/theme/theme1.xml><?xml version="1.0" encoding="utf-8"?>
<a:theme xmlns:a="http://schemas.openxmlformats.org/drawingml/2006/main" name="Benutzerdefiniertes Design">
  <a:themeElements>
    <a:clrScheme name="">
      <a:dk1>
        <a:srgbClr val="000000"/>
      </a:dk1>
      <a:lt1>
        <a:srgbClr val="FFFFFF"/>
      </a:lt1>
      <a:dk2>
        <a:srgbClr val="323232"/>
      </a:dk2>
      <a:lt2>
        <a:srgbClr val="E7E6E6"/>
      </a:lt2>
      <a:accent1>
        <a:srgbClr val="450073"/>
      </a:accent1>
      <a:accent2>
        <a:srgbClr val="7400A4"/>
      </a:accent2>
      <a:accent3>
        <a:srgbClr val="A000FF"/>
      </a:accent3>
      <a:accent4>
        <a:srgbClr val="7400C0"/>
      </a:accent4>
      <a:accent5>
        <a:srgbClr val="A000FF"/>
      </a:accent5>
      <a:accent6>
        <a:srgbClr val="0074FA"/>
      </a:accent6>
      <a:hlink>
        <a:srgbClr val="0563C1"/>
      </a:hlink>
      <a:folHlink>
        <a:srgbClr val="954F72"/>
      </a:folHlink>
    </a:clrScheme>
    <a:fontScheme name="Custom 1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68E8A427C7042B88C07DEB3AAE194" ma:contentTypeVersion="4" ma:contentTypeDescription="Create a new document." ma:contentTypeScope="" ma:versionID="f5aab35fc18a4076e002b689ed036be6">
  <xsd:schema xmlns:xsd="http://www.w3.org/2001/XMLSchema" xmlns:xs="http://www.w3.org/2001/XMLSchema" xmlns:p="http://schemas.microsoft.com/office/2006/metadata/properties" xmlns:ns2="efbc7074-1739-4f5d-9f49-6049e4d1c4c9" targetNamespace="http://schemas.microsoft.com/office/2006/metadata/properties" ma:root="true" ma:fieldsID="626b27ea1de3d77dd8831ae760f43107" ns2:_="">
    <xsd:import namespace="efbc7074-1739-4f5d-9f49-6049e4d1c4c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bc7074-1739-4f5d-9f49-6049e4d1c4c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F2BA02A-16F2-4074-9256-67A7B45105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3327155-F861-406F-9B6A-61CAEBDB8793}"/>
</file>

<file path=customXml/itemProps3.xml><?xml version="1.0" encoding="utf-8"?>
<ds:datastoreItem xmlns:ds="http://schemas.openxmlformats.org/officeDocument/2006/customXml" ds:itemID="{4A79D69A-B618-4F1D-B03E-4898CDB7CD46}">
  <ds:schemaRefs>
    <ds:schemaRef ds:uri="1532bac0-5326-4503-ba2d-f97cb42f07e8"/>
    <ds:schemaRef ds:uri="d9d3bc85-2298-417e-8173-e4861f87b0a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445468e1-6f71-4c44-b477-4186644999e5"/>
    <ds:schemaRef ds:uri="67b97e1a-af86-4a96-97ed-5fa9bfb3ba3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Titles</Template>
  <TotalTime>1</TotalTime>
  <Words>277</Words>
  <Application>Microsoft Office PowerPoint</Application>
  <PresentationFormat>On-screen Show (16:9)</PresentationFormat>
  <Paragraphs>39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Graphik</vt:lpstr>
      <vt:lpstr>Graphik Semibold</vt:lpstr>
      <vt:lpstr>Wingdings</vt:lpstr>
      <vt:lpstr>Benutzerdefiniertes Design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powerpoint template</dc:title>
  <dc:creator>Cardone, Concetta</dc:creator>
  <cp:lastModifiedBy>Li, Yinan</cp:lastModifiedBy>
  <cp:revision>6</cp:revision>
  <dcterms:created xsi:type="dcterms:W3CDTF">2020-01-28T16:35:53Z</dcterms:created>
  <dcterms:modified xsi:type="dcterms:W3CDTF">2025-03-03T16:04:53Z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0x01010070468E8A427C7042B88C07DEB3AAE194</vt:lpwstr>
  </property>
  <property fmtid="{D5CDD505-2E9C-101B-9397-08002B2CF9AE}" pid="3" name="MediaServiceImageTags">
    <vt:lpwstr/>
  </property>
</Properties>
</file>