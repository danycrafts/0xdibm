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4"/>
  </p:sldMasterIdLst>
  <p:notesMasterIdLst>
    <p:notesMasterId r:id="rId6"/>
  </p:notesMasterIdLst>
  <p:handoutMasterIdLst>
    <p:handoutMasterId r:id="rId7"/>
  </p:handoutMasterIdLst>
  <p:sldIdLst>
    <p:sldId id="455" r:id="rId5"/>
  </p:sldIdLst>
  <p:sldSz cx="9144000" cy="5143500" type="screen16x9"/>
  <p:notesSz cx="6858000" cy="9144000"/>
  <p:custDataLst>
    <p:tags r:id="rId8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ric CV" id="{56B70882-26A0-4579-9808-FE0F6CC9402A}">
          <p14:sldIdLst>
            <p14:sldId id="455"/>
          </p14:sldIdLst>
        </p14:section>
      </p14:sectionLst>
    </p:ext>
    <p:ext uri="{EFAFB233-063F-42B5-8137-9DF3F51BA10A}">
      <p15:sldGuideLst xmlns:p15="http://schemas.microsoft.com/office/powerpoint/2012/main">
        <p15:guide id="3" pos="2880">
          <p15:clr>
            <a:srgbClr val="A4A3A4"/>
          </p15:clr>
        </p15:guide>
        <p15:guide id="4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006F"/>
    <a:srgbClr val="000000"/>
    <a:srgbClr val="DBDCDB"/>
    <a:srgbClr val="006EFA"/>
    <a:srgbClr val="0F0F64"/>
    <a:srgbClr val="0F0F46"/>
    <a:srgbClr val="787878"/>
    <a:srgbClr val="C8C8C8"/>
    <a:srgbClr val="E6E6E6"/>
    <a:srgbClr val="60D6D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C1F83B-FBCA-1665-4B51-B998BF7B8997}" v="437" dt="2025-01-22T10:44:09.580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-44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D7333-DD87-4773-BED3-E2892A4094EE}" type="datetimeFigureOut">
              <a:rPr lang="en-US" smtClean="0">
                <a:latin typeface="Graphik" panose="020B0503030202060203" pitchFamily="34" charset="77"/>
              </a:rPr>
              <a:t>3/3/2025</a:t>
            </a:fld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E21C-7E3E-40C1-A5B4-152F0F11E190}" type="slidenum">
              <a:rPr lang="en-US" smtClean="0">
                <a:latin typeface="Graphik" panose="020B0503030202060203" pitchFamily="34" charset="77"/>
              </a:rPr>
              <a:t>‹#›</a:t>
            </a:fld>
            <a:endParaRPr lang="en-US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35044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raphik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raphik" panose="020B0503030202060203" pitchFamily="34" charset="77"/>
              </a:defRPr>
            </a:lvl1pPr>
          </a:lstStyle>
          <a:p>
            <a:fld id="{D39D084F-DC83-4EB0-8CED-52E9AA3ECA1C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raphik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raphik" panose="020B0503030202060203" pitchFamily="34" charset="77"/>
              </a:defRPr>
            </a:lvl1pPr>
          </a:lstStyle>
          <a:p>
            <a:fld id="{AC157E0A-F321-48DC-AF94-681D4DCF34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0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1pPr>
    <a:lvl2pPr marL="3429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2pPr>
    <a:lvl3pPr marL="6858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3pPr>
    <a:lvl4pPr marL="10287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4pPr>
    <a:lvl5pPr marL="13716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052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6">
            <a:extLst>
              <a:ext uri="{FF2B5EF4-FFF2-40B4-BE49-F238E27FC236}">
                <a16:creationId xmlns:a16="http://schemas.microsoft.com/office/drawing/2014/main" id="{45825148-DE3C-46D4-B4AE-FF54FE310F76}"/>
              </a:ext>
            </a:extLst>
          </p:cNvPr>
          <p:cNvSpPr txBox="1"/>
          <p:nvPr userDrawn="1"/>
        </p:nvSpPr>
        <p:spPr>
          <a:xfrm>
            <a:off x="6576683" y="5003923"/>
            <a:ext cx="2140597" cy="153888"/>
          </a:xfrm>
          <a:prstGeom prst="rect">
            <a:avLst/>
          </a:prstGeom>
          <a:noFill/>
        </p:spPr>
        <p:txBody>
          <a:bodyPr wrap="square" lIns="0" tIns="0" rIns="0" bIns="45720" rtlCol="0" anchor="t">
            <a:spAutoFit/>
          </a:bodyPr>
          <a:lstStyle/>
          <a:p>
            <a:pPr algn="r"/>
            <a:r>
              <a:rPr lang="en-US" sz="6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rPr>
              <a:t>Copyright © 2020 Accenture. All rights reserved</a:t>
            </a:r>
            <a:r>
              <a:rPr lang="en-US" sz="7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rPr>
              <a:t>. </a:t>
            </a:r>
            <a:endParaRPr lang="de-DE" sz="700" b="0" i="0" u="none" kern="1200">
              <a:solidFill>
                <a:schemeClr val="tx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088FD9-FDA0-4E90-8BF8-389225E6AA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762" y="226513"/>
            <a:ext cx="1657518" cy="11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404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8871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6F4C2C0-9C44-433C-BA89-DCAC6469C9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222674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92" imgH="595" progId="TCLayout.ActiveDocument.1">
                  <p:embed/>
                </p:oleObj>
              </mc:Choice>
              <mc:Fallback>
                <p:oleObj name="think-cell Slide" r:id="rId5" imgW="592" imgH="595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6F4C2C0-9C44-433C-BA89-DCAC6469C9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636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890" userDrawn="1">
          <p15:clr>
            <a:srgbClr val="F26B43"/>
          </p15:clr>
        </p15:guide>
        <p15:guide id="4" orient="horz" pos="3117" userDrawn="1">
          <p15:clr>
            <a:srgbClr val="F26B43"/>
          </p15:clr>
        </p15:guide>
        <p15:guide id="5" orient="horz" pos="191" userDrawn="1">
          <p15:clr>
            <a:srgbClr val="F26B43"/>
          </p15:clr>
        </p15:guide>
        <p15:guide id="6" pos="181" userDrawn="1">
          <p15:clr>
            <a:srgbClr val="F26B43"/>
          </p15:clr>
        </p15:guide>
        <p15:guide id="7" pos="5579" userDrawn="1">
          <p15:clr>
            <a:srgbClr val="F26B43"/>
          </p15:clr>
        </p15:guide>
        <p15:guide id="8" pos="3039" userDrawn="1">
          <p15:clr>
            <a:srgbClr val="F26B43"/>
          </p15:clr>
        </p15:guide>
        <p15:guide id="9" pos="272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13" Type="http://schemas.openxmlformats.org/officeDocument/2006/relationships/image" Target="../media/image3.png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hyperlink" Target="https://github.com/johndoe" TargetMode="Externa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hyperlink" Target="https://www.linkedin.com/in/johndoe" TargetMode="External"/><Relationship Id="rId5" Type="http://schemas.openxmlformats.org/officeDocument/2006/relationships/tags" Target="../tags/tag7.xml"/><Relationship Id="rId10" Type="http://schemas.openxmlformats.org/officeDocument/2006/relationships/hyperlink" Target="mailto:john.doe@email.com" TargetMode="External"/><Relationship Id="rId4" Type="http://schemas.openxmlformats.org/officeDocument/2006/relationships/tags" Target="../tags/tag6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7">
            <a:extLst>
              <a:ext uri="{FF2B5EF4-FFF2-40B4-BE49-F238E27FC236}">
                <a16:creationId xmlns:a16="http://schemas.microsoft.com/office/drawing/2014/main" id="{BB0AA60A-D303-48DE-8B73-CC26880FFD31}"/>
              </a:ext>
            </a:extLst>
          </p:cNvPr>
          <p:cNvSpPr txBox="1"/>
          <p:nvPr/>
        </p:nvSpPr>
        <p:spPr>
          <a:xfrm>
            <a:off x="380355" y="548937"/>
            <a:ext cx="8346282" cy="3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b="1" dirty="0">
                <a:latin typeface="Graphik Semibold"/>
              </a:rPr>
              <a:t>Data Engineer</a:t>
            </a:r>
            <a:endParaRPr lang="en-DE" sz="2400" b="1" dirty="0">
              <a:latin typeface="Graphik Semibold" panose="020B0503030202060203" pitchFamily="34" charset="77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32355C8D-B482-4230-9347-2A41B76B1B0D}"/>
              </a:ext>
            </a:extLst>
          </p:cNvPr>
          <p:cNvSpPr txBox="1"/>
          <p:nvPr/>
        </p:nvSpPr>
        <p:spPr>
          <a:xfrm>
            <a:off x="380355" y="193228"/>
            <a:ext cx="8346282" cy="355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3600" b="1" dirty="0">
                <a:solidFill>
                  <a:schemeClr val="accent3"/>
                </a:solidFill>
                <a:latin typeface="Graphik Semibold"/>
              </a:rPr>
              <a:t>John Doe</a:t>
            </a:r>
            <a:endParaRPr lang="en-US" sz="3600" b="1" dirty="0">
              <a:solidFill>
                <a:schemeClr val="accent3"/>
              </a:solidFill>
              <a:latin typeface="Graphik Semibold" panose="020B0503030202060203" pitchFamily="34" charset="77"/>
            </a:endParaRPr>
          </a:p>
        </p:txBody>
      </p:sp>
      <p:sp>
        <p:nvSpPr>
          <p:cNvPr id="21" name="Rechteck 5">
            <a:extLst>
              <a:ext uri="{FF2B5EF4-FFF2-40B4-BE49-F238E27FC236}">
                <a16:creationId xmlns:a16="http://schemas.microsoft.com/office/drawing/2014/main" id="{B2A1DE5C-7F91-4A1A-9AC6-83601FF26C9B}"/>
              </a:ext>
            </a:extLst>
          </p:cNvPr>
          <p:cNvSpPr/>
          <p:nvPr>
            <p:custDataLst>
              <p:tags r:id="rId1"/>
            </p:custDataLst>
          </p:nvPr>
        </p:nvSpPr>
        <p:spPr bwMode="gray">
          <a:xfrm>
            <a:off x="380355" y="906169"/>
            <a:ext cx="8389643" cy="4067632"/>
          </a:xfrm>
          <a:prstGeom prst="rect">
            <a:avLst/>
          </a:prstGeom>
          <a:pattFill prst="ltUpDiag">
            <a:fgClr>
              <a:schemeClr val="bg1"/>
            </a:fgClr>
            <a:bgClr>
              <a:srgbClr val="E8ECEC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hteck 6">
            <a:extLst>
              <a:ext uri="{FF2B5EF4-FFF2-40B4-BE49-F238E27FC236}">
                <a16:creationId xmlns:a16="http://schemas.microsoft.com/office/drawing/2014/main" id="{B57B3A26-AB1B-4820-B23A-F5DA79D27B07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451339" y="1255645"/>
            <a:ext cx="2720911" cy="361677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99000" rIns="91440" bIns="45720" rtlCol="0" anchor="t"/>
          <a:lstStyle/>
          <a:p>
            <a:pPr>
              <a:lnSpc>
                <a:spcPct val="95000"/>
              </a:lnSpc>
              <a:spcBef>
                <a:spcPts val="225"/>
              </a:spcBef>
              <a:spcAft>
                <a:spcPts val="225"/>
              </a:spcAft>
              <a:buClr>
                <a:srgbClr val="006699"/>
              </a:buClr>
              <a:defRPr/>
            </a:pPr>
            <a:endParaRPr lang="en-US" sz="900" dirty="0">
              <a:solidFill>
                <a:srgbClr val="000000"/>
              </a:solidFill>
            </a:endParaRP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Highly skilled and results-driven Data Engineer with 5 years of experience in designing, developing, and maintaining robust data pipelines and ETL processes.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Proficient in various data engineering tools and technologies, with a strong background in data warehousing, data modeling, and big data solutions.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Adept at collaborating with cross-functional teams to deliver high-quality data solutions that drive business insights and decision-making.</a:t>
            </a:r>
          </a:p>
        </p:txBody>
      </p:sp>
      <p:sp>
        <p:nvSpPr>
          <p:cNvPr id="23" name="Rechteck 9">
            <a:extLst>
              <a:ext uri="{FF2B5EF4-FFF2-40B4-BE49-F238E27FC236}">
                <a16:creationId xmlns:a16="http://schemas.microsoft.com/office/drawing/2014/main" id="{1F20D39F-31C7-467B-A678-9C02A88B6A81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3243234" y="1255645"/>
            <a:ext cx="5442452" cy="263334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Data Engineer</a:t>
            </a:r>
            <a:r>
              <a:rPr lang="en-US" sz="800" dirty="0">
                <a:solidFill>
                  <a:srgbClr val="423D47"/>
                </a:solidFill>
                <a:latin typeface="Graphik" panose="020B0503030202060203" pitchFamily="34" charset="0"/>
              </a:rPr>
              <a:t> </a:t>
            </a:r>
            <a:r>
              <a:rPr lang="en-US" sz="800" b="0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Tech Solutions GmbH, Stuttgart, Germany March 2020 – Present</a:t>
            </a:r>
          </a:p>
          <a:p>
            <a:pPr marL="0" lvl="1" algn="l"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Designed and implemented scalable data pipelines to process and analyze large datasets, resulting in a 30% improvement in data processing efficiency.</a:t>
            </a:r>
          </a:p>
          <a:p>
            <a:pPr marL="0" lvl="1" algn="l"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Developed and maintained ETL processes to extract, transform, and load data from various sources into data warehouses.</a:t>
            </a:r>
          </a:p>
          <a:p>
            <a:pPr marL="0" lvl="1" algn="l"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Collaborated with data scientists and analysts to understand data requirements and deliver high-quality data solutions.</a:t>
            </a:r>
          </a:p>
          <a:p>
            <a:pPr marL="0" lvl="1" algn="l"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Implemented data quality checks and monitoring to ensure data accuracy and reliability.</a:t>
            </a:r>
          </a:p>
          <a:p>
            <a:pPr marL="0" lvl="1" algn="l"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Optimized database performance and query execution times by 25%.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Junior Data Engineer</a:t>
            </a:r>
            <a:r>
              <a:rPr lang="en-US" sz="800" dirty="0">
                <a:solidFill>
                  <a:srgbClr val="423D47"/>
                </a:solidFill>
                <a:latin typeface="Graphik" panose="020B0503030202060203" pitchFamily="34" charset="0"/>
              </a:rPr>
              <a:t> </a:t>
            </a:r>
            <a:r>
              <a:rPr lang="en-US" sz="800" b="0" i="0" dirty="0" err="1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DataWorks</a:t>
            </a:r>
            <a:r>
              <a:rPr lang="en-US" sz="800" b="0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 Inc., Berlin, Germany June 2017 – February 2020</a:t>
            </a:r>
          </a:p>
          <a:p>
            <a:pPr marL="0" lvl="1" algn="l"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Assisted in the development and maintenance of data pipelines and ETL processes.</a:t>
            </a:r>
          </a:p>
          <a:p>
            <a:pPr marL="0" lvl="1" algn="l"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Supported data warehousing and data modeling activities.</a:t>
            </a:r>
          </a:p>
          <a:p>
            <a:pPr marL="0" lvl="1" algn="l"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Conducted data analysis and generated reports to support business decision-making.</a:t>
            </a:r>
          </a:p>
          <a:p>
            <a:pPr marL="0" lvl="1" algn="l"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Participated in code reviews and contributed to the improvement of data engineering best practices.</a:t>
            </a:r>
          </a:p>
          <a:p>
            <a:pPr algn="l"/>
            <a:r>
              <a:rPr lang="en-US" sz="800" b="1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Projects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Real-Time Data Processing Pipeline:</a:t>
            </a:r>
            <a:r>
              <a:rPr lang="en-US" sz="800" b="0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 Developed a real-time data processing pipeline using Apache Kafka and Spark to handle streaming data from IoT devices, resulting in a 40% reduction in data latency.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Data Warehouse Optimization:</a:t>
            </a:r>
            <a:r>
              <a:rPr lang="en-US" sz="800" b="0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 Led a project to optimize the company's data warehouse on Amazon Redshift, improving query performance by 50% and reducing storage costs by 20%.</a:t>
            </a:r>
          </a:p>
          <a:p>
            <a:pPr marL="0" lvl="1" algn="l">
              <a:buFont typeface="Arial" panose="020B0604020202020204" pitchFamily="34" charset="0"/>
              <a:buChar char="•"/>
            </a:pPr>
            <a:endParaRPr lang="en-US" sz="800" b="0" i="0" dirty="0">
              <a:solidFill>
                <a:srgbClr val="423D47"/>
              </a:solidFill>
              <a:effectLst/>
              <a:latin typeface="Graphik" panose="020B0503030202060203" pitchFamily="34" charset="0"/>
            </a:endParaRPr>
          </a:p>
          <a:p>
            <a:pPr>
              <a:defRPr/>
            </a:pPr>
            <a:endParaRPr lang="en-US" sz="800" dirty="0">
              <a:solidFill>
                <a:schemeClr val="tx1"/>
              </a:solidFill>
              <a:latin typeface="Graphik"/>
              <a:cs typeface="Arial"/>
            </a:endParaRPr>
          </a:p>
        </p:txBody>
      </p:sp>
      <p:sp>
        <p:nvSpPr>
          <p:cNvPr id="24" name="Rectangle 10">
            <a:extLst>
              <a:ext uri="{FF2B5EF4-FFF2-40B4-BE49-F238E27FC236}">
                <a16:creationId xmlns:a16="http://schemas.microsoft.com/office/drawing/2014/main" id="{262E880E-AAF8-4BBC-A871-56E2244056FE}"/>
              </a:ext>
            </a:extLst>
          </p:cNvPr>
          <p:cNvSpPr/>
          <p:nvPr/>
        </p:nvSpPr>
        <p:spPr bwMode="gray">
          <a:xfrm>
            <a:off x="1336213" y="958645"/>
            <a:ext cx="1754587" cy="297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de-DE" sz="1050" b="1">
                <a:solidFill>
                  <a:schemeClr val="accent3"/>
                </a:solidFill>
                <a:latin typeface="Graphik Semibold (Headings)"/>
              </a:rPr>
              <a:t>Professional Experience</a:t>
            </a:r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F3B9108E-44A7-4342-BD5F-F13BBCAE2D80}"/>
              </a:ext>
            </a:extLst>
          </p:cNvPr>
          <p:cNvSpPr>
            <a:spLocks/>
          </p:cNvSpPr>
          <p:nvPr/>
        </p:nvSpPr>
        <p:spPr bwMode="gray">
          <a:xfrm>
            <a:off x="3302433" y="958645"/>
            <a:ext cx="5319692" cy="297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50" b="1">
                <a:solidFill>
                  <a:schemeClr val="accent3"/>
                </a:solidFill>
                <a:latin typeface="Graphik Semibold (Headings)"/>
              </a:rPr>
              <a:t>Project Experience (Extract)</a:t>
            </a:r>
          </a:p>
        </p:txBody>
      </p:sp>
      <p:sp>
        <p:nvSpPr>
          <p:cNvPr id="28" name="Rechteck 13">
            <a:extLst>
              <a:ext uri="{FF2B5EF4-FFF2-40B4-BE49-F238E27FC236}">
                <a16:creationId xmlns:a16="http://schemas.microsoft.com/office/drawing/2014/main" id="{CBB4042B-1208-4045-B4C5-895700C8460E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5345253" y="4139287"/>
            <a:ext cx="2010172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AWS Certified Data Analytics, December 2021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Google Cloud Professional Data Engineer, March 2022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8A7813C-EE04-48E3-A7AE-399B8213047E}"/>
              </a:ext>
            </a:extLst>
          </p:cNvPr>
          <p:cNvSpPr>
            <a:spLocks/>
          </p:cNvSpPr>
          <p:nvPr/>
        </p:nvSpPr>
        <p:spPr bwMode="gray">
          <a:xfrm>
            <a:off x="5345254" y="3889173"/>
            <a:ext cx="2151616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Graphik Semibold (Headings)"/>
              </a:rPr>
              <a:t>Industry/Function Expertise</a:t>
            </a:r>
          </a:p>
        </p:txBody>
      </p:sp>
      <p:sp>
        <p:nvSpPr>
          <p:cNvPr id="31" name="Rechteck 12">
            <a:extLst>
              <a:ext uri="{FF2B5EF4-FFF2-40B4-BE49-F238E27FC236}">
                <a16:creationId xmlns:a16="http://schemas.microsoft.com/office/drawing/2014/main" id="{11CA312B-03A9-41D3-AC78-B7E1AD8A7200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3243233" y="4139288"/>
            <a:ext cx="2031036" cy="72975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algn="l">
              <a:buFont typeface="Arial" panose="020B0604020202020204" pitchFamily="34" charset="0"/>
              <a:buChar char="•"/>
            </a:pPr>
            <a:r>
              <a:rPr lang="de-DE" sz="1000" b="0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Python, SQL, Java, Scala, Redshift, BigQuery, Hadoop, Spark, Kafka, AWS, GCP, Tableau</a:t>
            </a:r>
            <a:endParaRPr lang="de-DE" sz="800" b="0" i="0" dirty="0">
              <a:solidFill>
                <a:srgbClr val="423D47"/>
              </a:solidFill>
              <a:effectLst/>
              <a:latin typeface="Graphik" panose="020B0503030202060203" pitchFamily="34" charset="0"/>
            </a:endParaRPr>
          </a:p>
        </p:txBody>
      </p:sp>
      <p:sp>
        <p:nvSpPr>
          <p:cNvPr id="32" name="Rectangle 11">
            <a:extLst>
              <a:ext uri="{FF2B5EF4-FFF2-40B4-BE49-F238E27FC236}">
                <a16:creationId xmlns:a16="http://schemas.microsoft.com/office/drawing/2014/main" id="{23CC28EE-E2DD-4FF9-9587-CD8E01D0A5D1}"/>
              </a:ext>
            </a:extLst>
          </p:cNvPr>
          <p:cNvSpPr/>
          <p:nvPr/>
        </p:nvSpPr>
        <p:spPr bwMode="gray">
          <a:xfrm>
            <a:off x="3302433" y="3901096"/>
            <a:ext cx="2337373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Graphik Semibold (Headings)"/>
              </a:rPr>
              <a:t>Capability Skills</a:t>
            </a:r>
          </a:p>
        </p:txBody>
      </p:sp>
      <p:sp>
        <p:nvSpPr>
          <p:cNvPr id="35" name="Rechteck 13">
            <a:extLst>
              <a:ext uri="{FF2B5EF4-FFF2-40B4-BE49-F238E27FC236}">
                <a16:creationId xmlns:a16="http://schemas.microsoft.com/office/drawing/2014/main" id="{CF983AA7-EA8F-4F01-A3AF-2FBC27283D1A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7426409" y="4137033"/>
            <a:ext cx="1245896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28588" lvl="1" indent="-128588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900" dirty="0">
                <a:solidFill>
                  <a:schemeClr val="tx1"/>
                </a:solidFill>
                <a:latin typeface="Graphik"/>
                <a:cs typeface="Arial" panose="020B0604020202020204" pitchFamily="34" charset="0"/>
              </a:rPr>
              <a:t>English (P4)</a:t>
            </a:r>
          </a:p>
        </p:txBody>
      </p:sp>
      <p:sp>
        <p:nvSpPr>
          <p:cNvPr id="36" name="Rectangle 11">
            <a:extLst>
              <a:ext uri="{FF2B5EF4-FFF2-40B4-BE49-F238E27FC236}">
                <a16:creationId xmlns:a16="http://schemas.microsoft.com/office/drawing/2014/main" id="{DE1E095C-2771-4D9C-A9E9-1B6B52523785}"/>
              </a:ext>
            </a:extLst>
          </p:cNvPr>
          <p:cNvSpPr/>
          <p:nvPr/>
        </p:nvSpPr>
        <p:spPr bwMode="gray">
          <a:xfrm>
            <a:off x="7439790" y="3889174"/>
            <a:ext cx="1233343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Graphik Semibold (Headings)"/>
              </a:rPr>
              <a:t>Language Skills</a:t>
            </a:r>
          </a:p>
        </p:txBody>
      </p:sp>
      <p:sp>
        <p:nvSpPr>
          <p:cNvPr id="39" name="Rechteck 18">
            <a:extLst>
              <a:ext uri="{FF2B5EF4-FFF2-40B4-BE49-F238E27FC236}">
                <a16:creationId xmlns:a16="http://schemas.microsoft.com/office/drawing/2014/main" id="{58D4F9F1-5F24-47D5-83F2-A0BDD59B77E1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558300" y="1360403"/>
            <a:ext cx="2720911" cy="79219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>
              <a:spcAft>
                <a:spcPts val="300"/>
              </a:spcAft>
              <a:defRPr/>
            </a:pPr>
            <a:r>
              <a:rPr lang="de-DE" sz="1050" b="1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John Doe</a:t>
            </a:r>
            <a:br>
              <a:rPr lang="de-DE" sz="1050" dirty="0"/>
            </a:br>
            <a:r>
              <a:rPr lang="de-DE" sz="1050" b="0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123 Main Street, Stuttgart, Germany, 70173</a:t>
            </a:r>
            <a:br>
              <a:rPr lang="de-DE" sz="1050" dirty="0"/>
            </a:br>
            <a:r>
              <a:rPr lang="de-DE" sz="1050" b="0" i="0" u="sng" dirty="0">
                <a:effectLst/>
                <a:latin typeface="Graphik" panose="020B0503030202060203" pitchFamily="34" charset="0"/>
                <a:hlinkClick r:id="rId10"/>
              </a:rPr>
              <a:t>john.doe@email.com</a:t>
            </a:r>
            <a:r>
              <a:rPr lang="de-DE" sz="1050" b="0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 | +49 123 456 7890</a:t>
            </a:r>
            <a:br>
              <a:rPr lang="de-DE" sz="1050" dirty="0"/>
            </a:br>
            <a:r>
              <a:rPr lang="de-DE" sz="1050" b="0" i="0" u="sng" dirty="0">
                <a:effectLst/>
                <a:latin typeface="Graphik" panose="020B0503030202060203" pitchFamily="34" charset="0"/>
                <a:hlinkClick r:id="rId11"/>
              </a:rPr>
              <a:t>LinkedIn Profile</a:t>
            </a:r>
            <a:r>
              <a:rPr lang="de-DE" sz="1050" b="0" i="0" dirty="0">
                <a:solidFill>
                  <a:srgbClr val="423D47"/>
                </a:solidFill>
                <a:effectLst/>
                <a:latin typeface="Graphik" panose="020B0503030202060203" pitchFamily="34" charset="0"/>
              </a:rPr>
              <a:t> | </a:t>
            </a:r>
            <a:r>
              <a:rPr lang="de-DE" sz="1050" b="0" i="0" u="sng" dirty="0">
                <a:effectLst/>
                <a:latin typeface="Graphik" panose="020B0503030202060203" pitchFamily="34" charset="0"/>
                <a:hlinkClick r:id="rId12"/>
              </a:rPr>
              <a:t>GitHub Profile</a:t>
            </a:r>
            <a:endParaRPr lang="en-US" altLang="de-DE" sz="900" kern="0" dirty="0">
              <a:solidFill>
                <a:schemeClr val="tx1"/>
              </a:solidFill>
              <a:latin typeface="Graphik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948000" y="0"/>
            <a:ext cx="1980000" cy="5399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DAI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78400" y="262754"/>
            <a:ext cx="691200" cy="471517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6840000" y="5003124"/>
            <a:ext cx="2160000" cy="1259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48000" y="5003124"/>
            <a:ext cx="1800000" cy="359937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600">
                <a:latin typeface="Graphik"/>
              </a:defRPr>
            </a:pPr>
            <a:r>
              <a:t>Copyright © 2022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9950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heme/theme1.xml><?xml version="1.0" encoding="utf-8"?>
<a:theme xmlns:a="http://schemas.openxmlformats.org/drawingml/2006/main" name="Benutzerdefiniertes Design">
  <a:themeElements>
    <a:clrScheme name="">
      <a:dk1>
        <a:srgbClr val="000000"/>
      </a:dk1>
      <a:lt1>
        <a:srgbClr val="FFFFFF"/>
      </a:lt1>
      <a:dk2>
        <a:srgbClr val="323232"/>
      </a:dk2>
      <a:lt2>
        <a:srgbClr val="E7E6E6"/>
      </a:lt2>
      <a:accent1>
        <a:srgbClr val="450073"/>
      </a:accent1>
      <a:accent2>
        <a:srgbClr val="7400A4"/>
      </a:accent2>
      <a:accent3>
        <a:srgbClr val="A000FF"/>
      </a:accent3>
      <a:accent4>
        <a:srgbClr val="7400C0"/>
      </a:accent4>
      <a:accent5>
        <a:srgbClr val="A000FF"/>
      </a:accent5>
      <a:accent6>
        <a:srgbClr val="0074FA"/>
      </a:accent6>
      <a:hlink>
        <a:srgbClr val="0563C1"/>
      </a:hlink>
      <a:folHlink>
        <a:srgbClr val="954F72"/>
      </a:folHlink>
    </a:clrScheme>
    <a:fontScheme name="Custom 1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9d3bc85-2298-417e-8173-e4861f87b0ac">
      <UserInfo>
        <DisplayName>Schiller, Waldemar</DisplayName>
        <AccountId>964</AccountId>
        <AccountType/>
      </UserInfo>
    </SharedWithUsers>
    <TaxCatchAll xmlns="d9d3bc85-2298-417e-8173-e4861f87b0ac" xsi:nil="true"/>
    <lcf76f155ced4ddcb4097134ff3c332f xmlns="1532bac0-5326-4503-ba2d-f97cb42f07e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353B7FF0F59840B8F7BD5CC903CC43" ma:contentTypeVersion="18" ma:contentTypeDescription="Create a new document." ma:contentTypeScope="" ma:versionID="4c28a04adf26a2b34819c88666e01e58">
  <xsd:schema xmlns:xsd="http://www.w3.org/2001/XMLSchema" xmlns:xs="http://www.w3.org/2001/XMLSchema" xmlns:p="http://schemas.microsoft.com/office/2006/metadata/properties" xmlns:ns2="1532bac0-5326-4503-ba2d-f97cb42f07e8" xmlns:ns3="d9d3bc85-2298-417e-8173-e4861f87b0ac" targetNamespace="http://schemas.microsoft.com/office/2006/metadata/properties" ma:root="true" ma:fieldsID="9107a09286a0a3fff0496f7e568a9d73" ns2:_="" ns3:_="">
    <xsd:import namespace="1532bac0-5326-4503-ba2d-f97cb42f07e8"/>
    <xsd:import namespace="d9d3bc85-2298-417e-8173-e4861f87b0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32bac0-5326-4503-ba2d-f97cb42f07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3bc85-2298-417e-8173-e4861f87b0a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56ae568-8bf3-4afc-a409-94906f65302c}" ma:internalName="TaxCatchAll" ma:showField="CatchAllData" ma:web="d9d3bc85-2298-417e-8173-e4861f87b0a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79D69A-B618-4F1D-B03E-4898CDB7CD46}">
  <ds:schemaRefs>
    <ds:schemaRef ds:uri="044554ec-0cae-40cb-a11c-8125305b745f"/>
    <ds:schemaRef ds:uri="1532bac0-5326-4503-ba2d-f97cb42f07e8"/>
    <ds:schemaRef ds:uri="d9d3bc85-2298-417e-8173-e4861f87b0ac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4F8CC66-498D-4767-BC23-4075D007B42E}">
  <ds:schemaRefs>
    <ds:schemaRef ds:uri="1532bac0-5326-4503-ba2d-f97cb42f07e8"/>
    <ds:schemaRef ds:uri="d9d3bc85-2298-417e-8173-e4861f87b0a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F2BA02A-16F2-4074-9256-67A7B45105F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Titles</Template>
  <TotalTime>0</TotalTime>
  <Words>393</Words>
  <Application>Microsoft Office PowerPoint</Application>
  <PresentationFormat>On-screen Show (16:9)</PresentationFormat>
  <Paragraphs>32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Graphik</vt:lpstr>
      <vt:lpstr>Graphik Semibold</vt:lpstr>
      <vt:lpstr>Graphik Semibold (Headings)</vt:lpstr>
      <vt:lpstr>Wingdings</vt:lpstr>
      <vt:lpstr>Benutzerdefiniertes Design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powerpoint template</dc:title>
  <dc:creator>Cardone, Concetta</dc:creator>
  <cp:lastModifiedBy>Ramachandran, Lauryna</cp:lastModifiedBy>
  <cp:revision>140</cp:revision>
  <dcterms:created xsi:type="dcterms:W3CDTF">2020-01-28T16:35:53Z</dcterms:created>
  <dcterms:modified xsi:type="dcterms:W3CDTF">2025-03-03T15:11:02Z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0x010100E9353B7FF0F59840B8F7BD5CC903CC43</vt:lpwstr>
  </property>
  <property fmtid="{D5CDD505-2E9C-101B-9397-08002B2CF9AE}" pid="3" name="MediaServiceImageTags">
    <vt:lpwstr/>
  </property>
</Properties>
</file>